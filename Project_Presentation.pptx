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7" r:id="rId2"/>
    <p:sldId id="279" r:id="rId3"/>
    <p:sldId id="281" r:id="rId4"/>
    <p:sldId id="280" r:id="rId5"/>
    <p:sldId id="282" r:id="rId6"/>
    <p:sldId id="278" r:id="rId7"/>
    <p:sldId id="258" r:id="rId8"/>
    <p:sldId id="274" r:id="rId9"/>
    <p:sldId id="275" r:id="rId10"/>
    <p:sldId id="277" r:id="rId11"/>
    <p:sldId id="276" r:id="rId12"/>
    <p:sldId id="266" r:id="rId13"/>
    <p:sldId id="268" r:id="rId14"/>
    <p:sldId id="273" r:id="rId15"/>
    <p:sldId id="271" r:id="rId16"/>
    <p:sldId id="270" r:id="rId17"/>
    <p:sldId id="269" r:id="rId18"/>
    <p:sldId id="28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7"/>
    <p:restoredTop sz="79416"/>
  </p:normalViewPr>
  <p:slideViewPr>
    <p:cSldViewPr snapToGrid="0">
      <p:cViewPr varScale="1">
        <p:scale>
          <a:sx n="98" d="100"/>
          <a:sy n="98" d="100"/>
        </p:scale>
        <p:origin x="11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1C9BC-3E93-9044-AC9A-C018B96E51A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83427-A81B-A542-81C3-CFD3AEDC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899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0AA4C-FA55-7527-9FDF-3663BC32A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F227EE-683A-8E65-154D-BB08103C1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5F7760-742C-AA83-07E0-C72CC1422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Diffusion Model: MONAI’s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DiffusionModelUNet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 noisy latent + latent mask (257, 16, 16)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Output: predicted noise (256, 16, 16)</a:t>
            </a:r>
          </a:p>
          <a:p>
            <a:pPr lvl="1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Encoder: 4 layers CNN</a:t>
            </a:r>
          </a:p>
          <a:p>
            <a:r>
              <a:rPr lang="en-US" dirty="0"/>
              <a:t>Decoder: 4 layer CNN</a:t>
            </a:r>
          </a:p>
          <a:p>
            <a:pPr lvl="1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C8B1D-AF49-F224-6642-90EBF93A71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83427-A81B-A542-81C3-CFD3AEDC40A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74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0AC50-33BD-8D9B-A865-0521130BE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9F8EE-51EC-29AD-AE1E-B040F15AD8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B323AF-0BC6-DBEB-8C73-DC71E1541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Diffusion Model: MONAI’s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DiffusionModelUNet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 noisy latent + latent mask (257, 16, 16)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Output: predicted noise (256, 16, 16)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22614-7A54-8B01-2EE2-B431970AB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83427-A81B-A542-81C3-CFD3AEDC40A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276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1B0ED-03D2-345B-CC2A-D370D6518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04D9D-B8C7-3954-2A1B-F6DA1C561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B149BF-C8DC-5419-3D78-C855B7AEB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Diffusion Model: MONAI’s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DiffusionModelUNet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 noisy latent + latent mask (257, 16, 16)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Output: predicted noise (256, 16, 16)</a:t>
            </a:r>
          </a:p>
          <a:p>
            <a:pPr lvl="1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Encoder: 4 layers CNN</a:t>
            </a:r>
          </a:p>
          <a:p>
            <a:r>
              <a:rPr lang="en-US" dirty="0"/>
              <a:t>Decoder: 4 layer CNN</a:t>
            </a:r>
          </a:p>
          <a:p>
            <a:pPr lvl="1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0A7D4-0013-1D9F-2D39-5F7E496EE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83427-A81B-A542-81C3-CFD3AEDC40A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041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5A160-116B-561C-093A-E7BD33B25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F15EE-4FF2-7A17-5E54-BE9145A2A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ABB959-C706-0DE6-4056-3CA71BEC7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Diffusion Model: MONAI’s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DiffusionModelUNet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 noisy latent + latent mask (257, 16, 16)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Output: predicted noise (256, 16, 16)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70F0B-BB8E-F86E-0C06-06ED0FE03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83427-A81B-A542-81C3-CFD3AEDC40A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42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Generator: U-Net-like CNN (4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downsampling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+ 4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upsampling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blocks).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 mask (256×256) → Output: synthetic image (256×256).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Discriminator: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PatchGAN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-style CNN.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 [image, mask] (2×256×256) → Output: real/fake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83427-A81B-A542-81C3-CFD3AEDC40A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13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7536-0624-9BD8-B027-0E86B6E8D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7CEA30-3648-7611-28AC-FE2281248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33901-9AD4-81CB-752A-981BC0E14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12/3/25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2D103-2CAC-6BDA-F88A-0B5AD85DD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CF8CC-6048-1D5F-B4B5-5ECB0E38E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875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EF6FA-5B9C-7946-5FF5-6DAEEA926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3E1D9-1D5B-F902-7520-0968BB8D5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01B3C-4ED8-7F63-6272-A810CF55C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Talha Ibn Mahmud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D4068-AF51-2CA8-1208-A9AE1021F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92237B8-3600-B7A7-5F8F-2917491A70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56349"/>
            <a:ext cx="1890712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4947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3DAC2-3DC7-291E-D832-D3F5D48B4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46EBC-6C76-A24A-56E6-56E05BE27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531B5-49FE-5112-ED03-F745A0D20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12/3/25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0C520-F511-1DB1-0391-F68570A3C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58BFE-3735-D1AE-6F6D-FE2B846BC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43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6B689-C474-78A3-34A5-8FE5ECC5F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E6E64-BF45-BC0C-64C8-D21AB590E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3ADE3-8A7D-1530-DA38-20150B9F3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663F6-4867-A4E9-5173-EE094BB3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12/3/25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9CAC1-A090-9959-0D2E-35AB75EA2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B7F73-D5DA-113B-831D-F6455EDED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92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03959-78B8-1D5E-A822-31C796885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880DD-461B-B147-8C66-FD58606FD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5F749-36B1-684B-13ED-28238D56B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E6A95-F3C7-248F-0A27-10AD72F632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0AE949-475D-1871-AC2D-BC336E5B62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459F43-B30E-B37C-6EEB-D40817625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12/3/25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82B134-A2E6-E34B-65E4-1C9CBA22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4D3A63-B5D6-4927-D9CC-FAFDD0DFB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512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67299-2D83-74BA-BFE7-B150D75A7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4CC53C-BBF7-90FD-305C-85C995B0E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12/3/25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7CD044-B0A1-BA1B-FA9B-A34B1E0EC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042500-EF78-E3DB-896E-507D2EDDD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42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8141BD-012E-446F-6647-E201EEB44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12/3/25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A61B00-57E4-33A2-BD1B-29094932C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39B9F-FBC3-D889-664C-BC5758AEA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80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50E7-4E0F-F5F0-769B-CB8B2AE1F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949B5-D135-ECB5-C58B-1B425BD0C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F5DD5-4147-10BD-CC32-37CD52987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BE404-AD25-9726-958D-EDB21C627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12/3/25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E5889-846C-43D6-6537-1AA1CCDA8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4935F-126C-3FD8-7F70-E18980D6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671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E5DC3-8701-8FDF-BECD-22053CD17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478D13-FFB2-47A9-10EF-15D40E7C6F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0621AF-3C76-A0ED-AA84-F8199F5C5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B80F4-D70C-3429-648D-8B909FF68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12/3/25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0074E-4127-9530-7736-47D3CF0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583D7-30E9-93AC-771D-3B06E103B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82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9869C-F1B7-2243-1349-F55648DEA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BD66EA-D42A-9B7B-0B81-ADC676BB5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1D2AC-DB85-AAA0-5D43-6DBC595D9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12/3/25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EAE40-CDE8-9B7A-5B1E-782458258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0C6B4-1B39-C649-C7FA-0F921F496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4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73071D-8C71-7C23-8726-656CFECC83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E99B3-ECEF-FCC3-635B-1191A20D4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66BAA-59EB-B325-842D-3BA50270C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12/3/25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6FDAB-4029-1621-2C89-8F9BE577B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78C40-F162-4C9D-2EE2-913DBAA1F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304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8F5B4D-CD66-1F2E-A12B-CF184F7D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04911-94A5-45E3-1209-9B80D3074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99838-12C9-FF26-0EC5-2D58E116F7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12/3/25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07E31-4FC7-3C8D-8C5F-4106F35F1E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AD2E0-A142-54FB-8BC5-59C9139EB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F40601-41C0-C643-8670-42B83ECA046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832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0F70A-2CDC-BD50-825F-A2329B9C5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Controllable Brain Tumor Synthesis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Talha Ibn Mahmud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Elmore Family School of Electrical and Computer Engineering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ECE 60131: Inference and Learning in Generative Models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Instructor: Joseph Makin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TA: Bilal Ahmed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96CECC-3381-CD0A-5DF8-20C6B41D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820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9A2AC-06DD-AD23-AACE-AA4BA5E15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EAF4B-F4FD-1270-F73E-0CF38DB9A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D6092-4806-187E-407D-04E0D13DB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825625"/>
            <a:ext cx="11325497" cy="525689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controllable generative optimized pipeline that can synthesize brain MRI slices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97E7F-29E1-FD1C-588F-75428CAC7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180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54992-6FCC-1AFA-CEEF-D3AA185DD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0849E-EFBA-C757-2D6E-E59721EA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D6C70-5BE2-DF4F-1410-B9F1B51FE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825625"/>
            <a:ext cx="11325497" cy="525689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generative optimized pipeline that can synthesize brain MRI slices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B2569-5CA5-535E-393B-C5E8E4D6D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9EAFA2-FD0C-1E73-935F-EB123A2BCAC1}"/>
              </a:ext>
            </a:extLst>
          </p:cNvPr>
          <p:cNvSpPr txBox="1"/>
          <p:nvPr/>
        </p:nvSpPr>
        <p:spPr>
          <a:xfrm>
            <a:off x="1489165" y="2598003"/>
            <a:ext cx="197249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user-specified </a:t>
            </a:r>
          </a:p>
          <a:p>
            <a:pPr algn="ctr"/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tumor location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1CAEF2-79FD-B042-5FEE-3A041A7CB0BF}"/>
              </a:ext>
            </a:extLst>
          </p:cNvPr>
          <p:cNvCxnSpPr>
            <a:endCxn id="6" idx="0"/>
          </p:cNvCxnSpPr>
          <p:nvPr/>
        </p:nvCxnSpPr>
        <p:spPr>
          <a:xfrm>
            <a:off x="2475410" y="2259874"/>
            <a:ext cx="1" cy="338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473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9364F-35AF-676A-77DE-5F8D128D8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6E336-9B59-233B-E96F-CCBD07A4B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546E5-3C1B-5A24-03FA-2349FC9E0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825625"/>
            <a:ext cx="11325497" cy="525689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generative </a:t>
            </a: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pipeline that can synthesize brain MRI slices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E8C37-DA53-333D-7CDE-AD4B0AE8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E0380E-9E7F-7A02-241B-3DFE8EEB2F60}"/>
              </a:ext>
            </a:extLst>
          </p:cNvPr>
          <p:cNvSpPr txBox="1"/>
          <p:nvPr/>
        </p:nvSpPr>
        <p:spPr>
          <a:xfrm>
            <a:off x="1489165" y="2598003"/>
            <a:ext cx="197249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user-specified </a:t>
            </a:r>
          </a:p>
          <a:p>
            <a:pPr algn="ctr"/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tumor location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09EEB-3D8A-E54B-FEC6-809A45F8E415}"/>
              </a:ext>
            </a:extLst>
          </p:cNvPr>
          <p:cNvSpPr txBox="1"/>
          <p:nvPr/>
        </p:nvSpPr>
        <p:spPr>
          <a:xfrm>
            <a:off x="4332513" y="2598002"/>
            <a:ext cx="197249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Trained on a latent space</a:t>
            </a: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26A3EA-0C39-CD80-563C-B6DABFAE3B02}"/>
              </a:ext>
            </a:extLst>
          </p:cNvPr>
          <p:cNvCxnSpPr>
            <a:endCxn id="6" idx="0"/>
          </p:cNvCxnSpPr>
          <p:nvPr/>
        </p:nvCxnSpPr>
        <p:spPr>
          <a:xfrm>
            <a:off x="2475410" y="2259874"/>
            <a:ext cx="1" cy="338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793BA08-169C-EAE7-BD94-F88CE90A503D}"/>
              </a:ext>
            </a:extLst>
          </p:cNvPr>
          <p:cNvCxnSpPr/>
          <p:nvPr/>
        </p:nvCxnSpPr>
        <p:spPr>
          <a:xfrm>
            <a:off x="5318758" y="2259873"/>
            <a:ext cx="1" cy="338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593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E602F-584A-6EF9-784F-F15CAB1C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2E17-046E-02D2-62DB-A38834EE3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D2AC5-04AF-2135-FD3D-F1013BDA5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825625"/>
            <a:ext cx="11325497" cy="525689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generative </a:t>
            </a: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pipeline that can synthesize brain MRI slices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F3B6A6-1AD4-2AF1-35A6-A4FCDCCA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3655A6-FF08-572A-5E1C-A1E6464022C3}"/>
              </a:ext>
            </a:extLst>
          </p:cNvPr>
          <p:cNvSpPr txBox="1"/>
          <p:nvPr/>
        </p:nvSpPr>
        <p:spPr>
          <a:xfrm>
            <a:off x="1489165" y="2598003"/>
            <a:ext cx="197249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user-specified </a:t>
            </a:r>
          </a:p>
          <a:p>
            <a:pPr algn="ctr"/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tumor location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467233-A806-03D1-221E-484C28A1AA5B}"/>
              </a:ext>
            </a:extLst>
          </p:cNvPr>
          <p:cNvSpPr txBox="1"/>
          <p:nvPr/>
        </p:nvSpPr>
        <p:spPr>
          <a:xfrm>
            <a:off x="4332513" y="2598002"/>
            <a:ext cx="197249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Trained on a latent space</a:t>
            </a: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8F675C-057E-9D92-42C2-47F808A7D898}"/>
              </a:ext>
            </a:extLst>
          </p:cNvPr>
          <p:cNvCxnSpPr>
            <a:endCxn id="6" idx="0"/>
          </p:cNvCxnSpPr>
          <p:nvPr/>
        </p:nvCxnSpPr>
        <p:spPr>
          <a:xfrm>
            <a:off x="2475410" y="2259874"/>
            <a:ext cx="1" cy="338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580444-6437-1B3C-8BA6-DFB4A7A33428}"/>
              </a:ext>
            </a:extLst>
          </p:cNvPr>
          <p:cNvCxnSpPr/>
          <p:nvPr/>
        </p:nvCxnSpPr>
        <p:spPr>
          <a:xfrm>
            <a:off x="5318758" y="2259873"/>
            <a:ext cx="1" cy="338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39A54C1-C86A-526B-E199-489FAB855880}"/>
              </a:ext>
            </a:extLst>
          </p:cNvPr>
          <p:cNvSpPr txBox="1">
            <a:spLocks/>
          </p:cNvSpPr>
          <p:nvPr/>
        </p:nvSpPr>
        <p:spPr>
          <a:xfrm>
            <a:off x="457199" y="3675687"/>
            <a:ext cx="11325497" cy="2020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quality of the generated slices using clinical segmentation metrics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different relevant generative modeling approaches</a:t>
            </a:r>
          </a:p>
        </p:txBody>
      </p:sp>
    </p:spTree>
    <p:extLst>
      <p:ext uri="{BB962C8B-B14F-4D97-AF65-F5344CB8AC3E}">
        <p14:creationId xmlns:p14="http://schemas.microsoft.com/office/powerpoint/2010/main" val="3249917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3EAF9-6669-F07E-8BC4-A3311077E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B31DA-8E75-9E07-2185-4C4239997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Pipeline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455090-FD81-5EB8-822A-7321A2E5F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6</a:t>
            </a:fld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3F22D81-A7C5-929E-3018-9255AD88293B}"/>
              </a:ext>
            </a:extLst>
          </p:cNvPr>
          <p:cNvSpPr/>
          <p:nvPr/>
        </p:nvSpPr>
        <p:spPr>
          <a:xfrm>
            <a:off x="4007031" y="2305594"/>
            <a:ext cx="4177937" cy="224681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Generative Model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BF244F4-FF66-E8CB-ACDA-2EBBE41B0BD5}"/>
              </a:ext>
            </a:extLst>
          </p:cNvPr>
          <p:cNvCxnSpPr>
            <a:endCxn id="8" idx="1"/>
          </p:cNvCxnSpPr>
          <p:nvPr/>
        </p:nvCxnSpPr>
        <p:spPr>
          <a:xfrm>
            <a:off x="2638697" y="3429000"/>
            <a:ext cx="13683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A9723B-2EAA-3D40-9CD6-9699AD549FDB}"/>
              </a:ext>
            </a:extLst>
          </p:cNvPr>
          <p:cNvCxnSpPr/>
          <p:nvPr/>
        </p:nvCxnSpPr>
        <p:spPr>
          <a:xfrm>
            <a:off x="8184968" y="3429000"/>
            <a:ext cx="13683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49CA487-2823-C2A7-F52D-81D755D9D119}"/>
              </a:ext>
            </a:extLst>
          </p:cNvPr>
          <p:cNvSpPr txBox="1"/>
          <p:nvPr/>
        </p:nvSpPr>
        <p:spPr>
          <a:xfrm>
            <a:off x="653143" y="2823189"/>
            <a:ext cx="19855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Mask with a tumor location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C2EC0F-D438-6682-620C-77382A2B56F0}"/>
              </a:ext>
            </a:extLst>
          </p:cNvPr>
          <p:cNvSpPr txBox="1"/>
          <p:nvPr/>
        </p:nvSpPr>
        <p:spPr>
          <a:xfrm>
            <a:off x="9601201" y="3007854"/>
            <a:ext cx="1937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Realistic MRI slice</a:t>
            </a:r>
          </a:p>
        </p:txBody>
      </p:sp>
    </p:spTree>
    <p:extLst>
      <p:ext uri="{BB962C8B-B14F-4D97-AF65-F5344CB8AC3E}">
        <p14:creationId xmlns:p14="http://schemas.microsoft.com/office/powerpoint/2010/main" val="1723937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81DBC-5993-0BE7-3E9B-EE16AE94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Methods to Analyze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167B9-2291-73CB-2DA4-EEE5333BE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VAE + Diffusion: A hybrid model that combines a deterministic VAE for structured latent representation with a diffusion model for controllable synthesis while operating in a compressed space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VAE + GAN: Replacing the diffusion with GAN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GAN: A direct conditional GAN that generates brain MRI slices from tumor masks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615A3F-D719-7C18-3C70-FE92EF3E8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043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D557E-2CB3-7818-76C0-97ECEDA57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481D3-5874-E049-7328-7C3D353AA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VAE+Diffusion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CF0BA2-63B3-9CD1-AB4E-9B18C0518CCF}"/>
              </a:ext>
            </a:extLst>
          </p:cNvPr>
          <p:cNvSpPr txBox="1"/>
          <p:nvPr/>
        </p:nvSpPr>
        <p:spPr>
          <a:xfrm>
            <a:off x="6309405" y="1859339"/>
            <a:ext cx="533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first VAE is trained to learn to reconstruct images.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encoder takes a 256×256 MRI slice and compresses it into a compact latent code of size 256 × 16 × 16.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decoder takes that latent code and reconstructs a full 256×256 image.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AC0A7A-D693-715D-FEA1-844DC3857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5A3EC4C-2FF5-7034-0ACA-100B59E7C1FE}"/>
              </a:ext>
            </a:extLst>
          </p:cNvPr>
          <p:cNvGrpSpPr/>
          <p:nvPr/>
        </p:nvGrpSpPr>
        <p:grpSpPr>
          <a:xfrm>
            <a:off x="341103" y="1996639"/>
            <a:ext cx="5507139" cy="1445820"/>
            <a:chOff x="1774371" y="2786008"/>
            <a:chExt cx="7121610" cy="186967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EE5F62D-3D63-23C7-8C73-E4F4020FD5D8}"/>
                </a:ext>
              </a:extLst>
            </p:cNvPr>
            <p:cNvGrpSpPr/>
            <p:nvPr/>
          </p:nvGrpSpPr>
          <p:grpSpPr>
            <a:xfrm>
              <a:off x="1774371" y="2830286"/>
              <a:ext cx="1600200" cy="1825398"/>
              <a:chOff x="1774371" y="2830286"/>
              <a:chExt cx="1600200" cy="1825398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F87A525-3595-CC6C-4783-3E7BCCFBF619}"/>
                  </a:ext>
                </a:extLst>
              </p:cNvPr>
              <p:cNvCxnSpPr/>
              <p:nvPr/>
            </p:nvCxnSpPr>
            <p:spPr>
              <a:xfrm>
                <a:off x="1774371" y="2830286"/>
                <a:ext cx="1600200" cy="685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C6A15-3B5D-15FE-6392-ACBDD3F201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4371" y="3937227"/>
                <a:ext cx="1600200" cy="71845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1460DDCD-36BE-6EF2-9A59-DE74531AE2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4371" y="2830286"/>
                <a:ext cx="0" cy="182539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A688CD24-BC50-FEF8-E2FE-954EFC8D81E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74571" y="3516086"/>
                <a:ext cx="0" cy="42114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199EA61-430C-A903-5F7D-3EB733F3FEC1}"/>
                </a:ext>
              </a:extLst>
            </p:cNvPr>
            <p:cNvGrpSpPr/>
            <p:nvPr/>
          </p:nvGrpSpPr>
          <p:grpSpPr>
            <a:xfrm rot="10800000">
              <a:off x="7295780" y="2786008"/>
              <a:ext cx="1600201" cy="1825398"/>
              <a:chOff x="-1025610" y="2858235"/>
              <a:chExt cx="1600201" cy="1825398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411BC74-FB1B-AFE2-E323-2CE1545453DA}"/>
                  </a:ext>
                </a:extLst>
              </p:cNvPr>
              <p:cNvCxnSpPr/>
              <p:nvPr/>
            </p:nvCxnSpPr>
            <p:spPr>
              <a:xfrm>
                <a:off x="-1025609" y="2858235"/>
                <a:ext cx="1600200" cy="685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7007B6CD-BC83-2FD5-C099-7C7B674FDA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1025609" y="3965176"/>
                <a:ext cx="1600200" cy="71845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A3C58A4-ABB3-A172-D002-4F22507D94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1025610" y="2858235"/>
                <a:ext cx="0" cy="182539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41AD9535-73D1-4B3D-C114-6223B16238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4591" y="3544035"/>
                <a:ext cx="0" cy="42114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8916EE8-212B-3A23-4294-C39376D53170}"/>
                </a:ext>
              </a:extLst>
            </p:cNvPr>
            <p:cNvSpPr/>
            <p:nvPr/>
          </p:nvSpPr>
          <p:spPr>
            <a:xfrm>
              <a:off x="3461657" y="3494147"/>
              <a:ext cx="3747028" cy="43494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470924F2-3A8E-EA2A-C039-3B0B83F23857}"/>
              </a:ext>
            </a:extLst>
          </p:cNvPr>
          <p:cNvSpPr txBox="1"/>
          <p:nvPr/>
        </p:nvSpPr>
        <p:spPr>
          <a:xfrm>
            <a:off x="336573" y="2511731"/>
            <a:ext cx="870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pic>
        <p:nvPicPr>
          <p:cNvPr id="42" name="Picture 4" descr="Fire Graphic Images – Browse 2,830,959 Stock Photos, Vectors, and Video |  Adobe Stock">
            <a:extLst>
              <a:ext uri="{FF2B5EF4-FFF2-40B4-BE49-F238E27FC236}">
                <a16:creationId xmlns:a16="http://schemas.microsoft.com/office/drawing/2014/main" id="{1F48B820-E1E4-BBE1-AEA6-0C21FDE72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549" y="1690688"/>
            <a:ext cx="371248" cy="37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3106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D0FE3-D789-CFFE-2324-FD68C8D35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88DD8-0A89-360D-800A-3AC16D25F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VAE+Diffusion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D464212-EB2C-7E02-AB69-8BE68424FB01}"/>
              </a:ext>
            </a:extLst>
          </p:cNvPr>
          <p:cNvGrpSpPr/>
          <p:nvPr/>
        </p:nvGrpSpPr>
        <p:grpSpPr>
          <a:xfrm>
            <a:off x="341103" y="1996639"/>
            <a:ext cx="5507139" cy="1445820"/>
            <a:chOff x="1774371" y="2786008"/>
            <a:chExt cx="7121610" cy="186967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4A049D9-10DD-0E4E-23E7-84FE0B5DE8B5}"/>
                </a:ext>
              </a:extLst>
            </p:cNvPr>
            <p:cNvGrpSpPr/>
            <p:nvPr/>
          </p:nvGrpSpPr>
          <p:grpSpPr>
            <a:xfrm>
              <a:off x="1774371" y="2830286"/>
              <a:ext cx="1600200" cy="1825398"/>
              <a:chOff x="1774371" y="2830286"/>
              <a:chExt cx="1600200" cy="1825398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4D7552DB-D8A8-6B4C-8C0F-FC8E973E6D3A}"/>
                  </a:ext>
                </a:extLst>
              </p:cNvPr>
              <p:cNvCxnSpPr/>
              <p:nvPr/>
            </p:nvCxnSpPr>
            <p:spPr>
              <a:xfrm>
                <a:off x="1774371" y="2830286"/>
                <a:ext cx="1600200" cy="685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9D093D3F-C58E-1057-5428-E86F114844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4371" y="3937227"/>
                <a:ext cx="1600200" cy="71845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3B8CB985-AFA2-F8CF-5C85-59D411F6C8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4371" y="2830286"/>
                <a:ext cx="0" cy="182539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53EFE36-63C1-CBB8-7077-5DBBA3B0DB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74571" y="3516086"/>
                <a:ext cx="0" cy="42114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19FBE7C-11F1-2367-55A9-BB35321B9D21}"/>
                </a:ext>
              </a:extLst>
            </p:cNvPr>
            <p:cNvGrpSpPr/>
            <p:nvPr/>
          </p:nvGrpSpPr>
          <p:grpSpPr>
            <a:xfrm rot="10800000">
              <a:off x="7295780" y="2786008"/>
              <a:ext cx="1600201" cy="1825398"/>
              <a:chOff x="-1025610" y="2858235"/>
              <a:chExt cx="1600201" cy="1825398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0E6E28BD-2421-1787-3DD9-D9F0C3037639}"/>
                  </a:ext>
                </a:extLst>
              </p:cNvPr>
              <p:cNvCxnSpPr/>
              <p:nvPr/>
            </p:nvCxnSpPr>
            <p:spPr>
              <a:xfrm>
                <a:off x="-1025609" y="2858235"/>
                <a:ext cx="1600200" cy="685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2DD974D-A2E4-8FF2-8ACF-E84E2E38F0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1025609" y="3965176"/>
                <a:ext cx="1600200" cy="71845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2EE68C8-969C-A1C0-A547-CF40251F9C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1025610" y="2858235"/>
                <a:ext cx="0" cy="182539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4F8BDF1C-9002-CF42-6D09-1B44E6E090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4591" y="3544035"/>
                <a:ext cx="0" cy="42114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09AB646-E556-0E03-554A-E07549378058}"/>
                </a:ext>
              </a:extLst>
            </p:cNvPr>
            <p:cNvSpPr/>
            <p:nvPr/>
          </p:nvSpPr>
          <p:spPr>
            <a:xfrm>
              <a:off x="3461657" y="3494147"/>
              <a:ext cx="3747028" cy="43494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B279239-80C5-5C8B-0F01-6E6D0AF3CA78}"/>
              </a:ext>
            </a:extLst>
          </p:cNvPr>
          <p:cNvSpPr txBox="1"/>
          <p:nvPr/>
        </p:nvSpPr>
        <p:spPr>
          <a:xfrm>
            <a:off x="336573" y="2511731"/>
            <a:ext cx="870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239073-62CD-650F-ADAA-D219823E8EB4}"/>
              </a:ext>
            </a:extLst>
          </p:cNvPr>
          <p:cNvGrpSpPr/>
          <p:nvPr/>
        </p:nvGrpSpPr>
        <p:grpSpPr>
          <a:xfrm>
            <a:off x="2819476" y="3652462"/>
            <a:ext cx="2959391" cy="991929"/>
            <a:chOff x="7429298" y="1855504"/>
            <a:chExt cx="3915119" cy="1257299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D9D9554F-4659-324B-782D-BFB6FD9DF687}"/>
                </a:ext>
              </a:extLst>
            </p:cNvPr>
            <p:cNvSpPr/>
            <p:nvPr/>
          </p:nvSpPr>
          <p:spPr>
            <a:xfrm>
              <a:off x="8311239" y="1855504"/>
              <a:ext cx="1578429" cy="1257299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Diffusion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5044027-1955-0A9C-B8B9-12C1E95A8060}"/>
                </a:ext>
              </a:extLst>
            </p:cNvPr>
            <p:cNvSpPr/>
            <p:nvPr/>
          </p:nvSpPr>
          <p:spPr>
            <a:xfrm>
              <a:off x="10612058" y="2333949"/>
              <a:ext cx="732359" cy="313042"/>
            </a:xfrm>
            <a:prstGeom prst="rect">
              <a:avLst/>
            </a:prstGeom>
            <a:gradFill flip="none" rotWithShape="1">
              <a:gsLst>
                <a:gs pos="0">
                  <a:schemeClr val="tx2">
                    <a:lumMod val="75000"/>
                    <a:lumOff val="25000"/>
                    <a:shade val="30000"/>
                    <a:satMod val="115000"/>
                  </a:schemeClr>
                </a:gs>
                <a:gs pos="50000">
                  <a:schemeClr val="tx2">
                    <a:lumMod val="75000"/>
                    <a:lumOff val="25000"/>
                    <a:shade val="67500"/>
                    <a:satMod val="115000"/>
                  </a:schemeClr>
                </a:gs>
                <a:gs pos="100000">
                  <a:schemeClr val="tx2">
                    <a:lumMod val="75000"/>
                    <a:lumOff val="25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500A62F-8416-8950-B7C5-85CFA507EEE7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 flipV="1">
              <a:off x="7429298" y="2484154"/>
              <a:ext cx="881940" cy="35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4D3CF1C-D190-C0A4-CED9-50600F9C2135}"/>
                </a:ext>
              </a:extLst>
            </p:cNvPr>
            <p:cNvCxnSpPr>
              <a:cxnSpLocks/>
              <a:stCxn id="24" idx="3"/>
              <a:endCxn id="27" idx="1"/>
            </p:cNvCxnSpPr>
            <p:nvPr/>
          </p:nvCxnSpPr>
          <p:spPr>
            <a:xfrm>
              <a:off x="9889668" y="2484154"/>
              <a:ext cx="722389" cy="631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33D34FB-09C3-DEC7-BD11-DD018E301789}"/>
              </a:ext>
            </a:extLst>
          </p:cNvPr>
          <p:cNvSpPr txBox="1"/>
          <p:nvPr/>
        </p:nvSpPr>
        <p:spPr>
          <a:xfrm>
            <a:off x="6267603" y="1356051"/>
            <a:ext cx="563224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VAE is frozen now and diffusion model is trained in the latent space.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mask is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downsampled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256×256 to 16×16 (to match the latent size) and concatenated with the noisy latent as input.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Iteratively denoised the latent 50 steps to get a cleaner latent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clean latent is passed to the frozen VAE decoder to produce the 256×256 synthetic MRI</a:t>
            </a:r>
          </a:p>
        </p:txBody>
      </p:sp>
      <p:pic>
        <p:nvPicPr>
          <p:cNvPr id="2050" name="Picture 2" descr="Freeze Logo Images – Browse 83,061 Stock Photos, Vectors, and Video | Adobe  Stock">
            <a:extLst>
              <a:ext uri="{FF2B5EF4-FFF2-40B4-BE49-F238E27FC236}">
                <a16:creationId xmlns:a16="http://schemas.microsoft.com/office/drawing/2014/main" id="{702BC3EB-2858-D375-ADFA-84C39A8EA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41" y="1690688"/>
            <a:ext cx="399484" cy="399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BD06A1-AF09-2E17-A9B0-D20CE4090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9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5F1B00-3173-A2F8-C609-792D42ADDD24}"/>
              </a:ext>
            </a:extLst>
          </p:cNvPr>
          <p:cNvSpPr/>
          <p:nvPr/>
        </p:nvSpPr>
        <p:spPr>
          <a:xfrm>
            <a:off x="2087117" y="4286022"/>
            <a:ext cx="732359" cy="10765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C6E503-2505-3C41-E78B-2B9C174FF9C0}"/>
              </a:ext>
            </a:extLst>
          </p:cNvPr>
          <p:cNvSpPr/>
          <p:nvPr/>
        </p:nvSpPr>
        <p:spPr>
          <a:xfrm>
            <a:off x="250345" y="5264153"/>
            <a:ext cx="732359" cy="31304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91666C-75C1-E097-4239-5946C9009F79}"/>
              </a:ext>
            </a:extLst>
          </p:cNvPr>
          <p:cNvSpPr/>
          <p:nvPr/>
        </p:nvSpPr>
        <p:spPr>
          <a:xfrm>
            <a:off x="250344" y="4130622"/>
            <a:ext cx="732359" cy="10765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8A6BFBF-6E2D-7542-2C76-851D66851698}"/>
              </a:ext>
            </a:extLst>
          </p:cNvPr>
          <p:cNvCxnSpPr>
            <a:stCxn id="25" idx="0"/>
            <a:endCxn id="26" idx="2"/>
          </p:cNvCxnSpPr>
          <p:nvPr/>
        </p:nvCxnSpPr>
        <p:spPr>
          <a:xfrm flipH="1" flipV="1">
            <a:off x="616524" y="4238278"/>
            <a:ext cx="1" cy="1025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4DC55F5-2612-5648-8B91-B3AE03D03B55}"/>
              </a:ext>
            </a:extLst>
          </p:cNvPr>
          <p:cNvSpPr txBox="1"/>
          <p:nvPr/>
        </p:nvSpPr>
        <p:spPr>
          <a:xfrm>
            <a:off x="392665" y="4691330"/>
            <a:ext cx="2060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Downsampling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FCD6DD31-C447-6188-CF74-34139FEFBE35}"/>
                  </a:ext>
                </a:extLst>
              </p:cNvPr>
              <p:cNvSpPr/>
              <p:nvPr/>
            </p:nvSpPr>
            <p:spPr>
              <a:xfrm>
                <a:off x="1351988" y="3987541"/>
                <a:ext cx="351693" cy="36512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FCD6DD31-C447-6188-CF74-34139FEFBE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988" y="3987541"/>
                <a:ext cx="351693" cy="365125"/>
              </a:xfrm>
              <a:prstGeom prst="ellipse">
                <a:avLst/>
              </a:prstGeom>
              <a:blipFill>
                <a:blip r:embed="rId4"/>
                <a:stretch>
                  <a:fillRect l="-10345" b="-1290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91CB0C5-01E9-8C49-E44A-DBBBB7BBAD2B}"/>
              </a:ext>
            </a:extLst>
          </p:cNvPr>
          <p:cNvCxnSpPr>
            <a:stCxn id="26" idx="3"/>
            <a:endCxn id="35" idx="2"/>
          </p:cNvCxnSpPr>
          <p:nvPr/>
        </p:nvCxnSpPr>
        <p:spPr>
          <a:xfrm flipV="1">
            <a:off x="982703" y="4170104"/>
            <a:ext cx="369285" cy="14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4CADCD4-6A8B-5904-F209-E9C5A155AE7A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1527835" y="3652462"/>
            <a:ext cx="0" cy="3350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EAF5A5A-04D2-779D-46E3-A1C2292F17B1}"/>
              </a:ext>
            </a:extLst>
          </p:cNvPr>
          <p:cNvCxnSpPr>
            <a:cxnSpLocks/>
            <a:stCxn id="35" idx="6"/>
          </p:cNvCxnSpPr>
          <p:nvPr/>
        </p:nvCxnSpPr>
        <p:spPr>
          <a:xfrm flipV="1">
            <a:off x="1703681" y="4151266"/>
            <a:ext cx="383437" cy="18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F128AEA-53CA-8DD5-23B6-90F6891AE95D}"/>
              </a:ext>
            </a:extLst>
          </p:cNvPr>
          <p:cNvCxnSpPr>
            <a:cxnSpLocks/>
            <a:stCxn id="27" idx="0"/>
            <a:endCxn id="20" idx="3"/>
          </p:cNvCxnSpPr>
          <p:nvPr/>
        </p:nvCxnSpPr>
        <p:spPr>
          <a:xfrm flipH="1" flipV="1">
            <a:off x="4543457" y="2712413"/>
            <a:ext cx="958621" cy="13175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5ED86CA-0310-D38D-0737-8D977EA2C78A}"/>
              </a:ext>
            </a:extLst>
          </p:cNvPr>
          <p:cNvSpPr txBox="1"/>
          <p:nvPr/>
        </p:nvSpPr>
        <p:spPr>
          <a:xfrm>
            <a:off x="67993" y="5542665"/>
            <a:ext cx="1101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Mask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0521695-B0E3-A2E9-9C06-C003BBBB2A62}"/>
              </a:ext>
            </a:extLst>
          </p:cNvPr>
          <p:cNvSpPr/>
          <p:nvPr/>
        </p:nvSpPr>
        <p:spPr>
          <a:xfrm>
            <a:off x="1161654" y="3338101"/>
            <a:ext cx="732359" cy="313042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73615E2-BCB2-C718-BB33-162F99EFE934}"/>
              </a:ext>
            </a:extLst>
          </p:cNvPr>
          <p:cNvSpPr/>
          <p:nvPr/>
        </p:nvSpPr>
        <p:spPr>
          <a:xfrm>
            <a:off x="2084347" y="3974101"/>
            <a:ext cx="732358" cy="31182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E64F344-8A73-796F-A2D5-BF166930AFF5}"/>
              </a:ext>
            </a:extLst>
          </p:cNvPr>
          <p:cNvSpPr txBox="1"/>
          <p:nvPr/>
        </p:nvSpPr>
        <p:spPr>
          <a:xfrm>
            <a:off x="1834698" y="3324935"/>
            <a:ext cx="1602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Latent Noise</a:t>
            </a:r>
          </a:p>
        </p:txBody>
      </p:sp>
    </p:spTree>
    <p:extLst>
      <p:ext uri="{BB962C8B-B14F-4D97-AF65-F5344CB8AC3E}">
        <p14:creationId xmlns:p14="http://schemas.microsoft.com/office/powerpoint/2010/main" val="3164799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6EB19-EDE2-6309-B85B-8A66E1A4D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286F7-F140-9E41-E16E-ACE4AA836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VAE + GAN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0B4BD3-2415-ACC5-EDA2-D3E6E049E552}"/>
              </a:ext>
            </a:extLst>
          </p:cNvPr>
          <p:cNvSpPr txBox="1"/>
          <p:nvPr/>
        </p:nvSpPr>
        <p:spPr>
          <a:xfrm>
            <a:off x="6343759" y="1576696"/>
            <a:ext cx="5334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first VAE is trained to learn to reconstruct images.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encoder takes a 256×256 MRI slice and compresses it into a compact latent code of size 256 × 16 × 16.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decoder takes that latent code and reconstructs a full 256×256 image.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training the MRI slice and corresponding mask are compressed into latent space for GAN usage.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EC3E27-055B-D26A-5EAD-5B3614175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79C8258-29AF-71C9-A61B-D613007F577B}"/>
              </a:ext>
            </a:extLst>
          </p:cNvPr>
          <p:cNvGrpSpPr/>
          <p:nvPr/>
        </p:nvGrpSpPr>
        <p:grpSpPr>
          <a:xfrm>
            <a:off x="341103" y="1996639"/>
            <a:ext cx="5507139" cy="1445820"/>
            <a:chOff x="1774371" y="2786008"/>
            <a:chExt cx="7121610" cy="186967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5983424-97D7-488E-59AC-E809FC5CB5CB}"/>
                </a:ext>
              </a:extLst>
            </p:cNvPr>
            <p:cNvGrpSpPr/>
            <p:nvPr/>
          </p:nvGrpSpPr>
          <p:grpSpPr>
            <a:xfrm>
              <a:off x="1774371" y="2830286"/>
              <a:ext cx="1600200" cy="1825398"/>
              <a:chOff x="1774371" y="2830286"/>
              <a:chExt cx="1600200" cy="1825398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F1ECF3A-3400-64D3-D70C-326DCEFBBFE9}"/>
                  </a:ext>
                </a:extLst>
              </p:cNvPr>
              <p:cNvCxnSpPr/>
              <p:nvPr/>
            </p:nvCxnSpPr>
            <p:spPr>
              <a:xfrm>
                <a:off x="1774371" y="2830286"/>
                <a:ext cx="1600200" cy="685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0852F3EA-CE9E-E7D3-5B6B-DDF81CEDD5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4371" y="3937227"/>
                <a:ext cx="1600200" cy="71845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D888108F-7FB5-E774-0666-2F7FE98491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4371" y="2830286"/>
                <a:ext cx="0" cy="182539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36D162E-0FDF-772C-49AA-2A3CDAA332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74571" y="3516086"/>
                <a:ext cx="0" cy="42114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64075FD-CD69-5678-94D6-D22410798808}"/>
                </a:ext>
              </a:extLst>
            </p:cNvPr>
            <p:cNvGrpSpPr/>
            <p:nvPr/>
          </p:nvGrpSpPr>
          <p:grpSpPr>
            <a:xfrm rot="10800000">
              <a:off x="7295780" y="2786008"/>
              <a:ext cx="1600201" cy="1825398"/>
              <a:chOff x="-1025610" y="2858235"/>
              <a:chExt cx="1600201" cy="1825398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2F1C175-2A50-509C-96FA-BD7FFC8F300B}"/>
                  </a:ext>
                </a:extLst>
              </p:cNvPr>
              <p:cNvCxnSpPr/>
              <p:nvPr/>
            </p:nvCxnSpPr>
            <p:spPr>
              <a:xfrm>
                <a:off x="-1025609" y="2858235"/>
                <a:ext cx="1600200" cy="685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534407CD-81A7-F659-A61C-9CBB4856D0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1025609" y="3965176"/>
                <a:ext cx="1600200" cy="71845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07569BEB-A481-12CD-FEA8-6C397C44F6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1025610" y="2858235"/>
                <a:ext cx="0" cy="182539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AEBF00D3-4B81-4834-3B4D-D84E750B9D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4591" y="3544035"/>
                <a:ext cx="0" cy="42114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5912DAB-B5C5-6BAE-43F3-0B142520F004}"/>
                </a:ext>
              </a:extLst>
            </p:cNvPr>
            <p:cNvSpPr/>
            <p:nvPr/>
          </p:nvSpPr>
          <p:spPr>
            <a:xfrm>
              <a:off x="3461657" y="3494147"/>
              <a:ext cx="3747028" cy="43494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054FBF6-9389-B794-864B-AE97126C09B9}"/>
              </a:ext>
            </a:extLst>
          </p:cNvPr>
          <p:cNvSpPr txBox="1"/>
          <p:nvPr/>
        </p:nvSpPr>
        <p:spPr>
          <a:xfrm>
            <a:off x="336573" y="2511731"/>
            <a:ext cx="870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pic>
        <p:nvPicPr>
          <p:cNvPr id="42" name="Picture 4" descr="Fire Graphic Images – Browse 2,830,959 Stock Photos, Vectors, and Video |  Adobe Stock">
            <a:extLst>
              <a:ext uri="{FF2B5EF4-FFF2-40B4-BE49-F238E27FC236}">
                <a16:creationId xmlns:a16="http://schemas.microsoft.com/office/drawing/2014/main" id="{75CE6956-B6F3-FFF8-5860-7FB16EE77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549" y="1690688"/>
            <a:ext cx="371248" cy="37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0133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CAB42-33B4-E843-F32F-A0A5CF17E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7C895-2890-7BC5-1CB6-BE416AB4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VAE + GAN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E54D09B-8998-B42A-389E-ED8BB0D949AE}"/>
              </a:ext>
            </a:extLst>
          </p:cNvPr>
          <p:cNvGrpSpPr/>
          <p:nvPr/>
        </p:nvGrpSpPr>
        <p:grpSpPr>
          <a:xfrm>
            <a:off x="341103" y="1996639"/>
            <a:ext cx="5507139" cy="1445820"/>
            <a:chOff x="1774371" y="2786008"/>
            <a:chExt cx="7121610" cy="186967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C8EB1EB-7B4B-8FC6-7CFF-C68C37999FF1}"/>
                </a:ext>
              </a:extLst>
            </p:cNvPr>
            <p:cNvGrpSpPr/>
            <p:nvPr/>
          </p:nvGrpSpPr>
          <p:grpSpPr>
            <a:xfrm>
              <a:off x="1774371" y="2830286"/>
              <a:ext cx="1600200" cy="1825398"/>
              <a:chOff x="1774371" y="2830286"/>
              <a:chExt cx="1600200" cy="1825398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121D50A9-F3E3-071B-46EC-7CD044BC1DE3}"/>
                  </a:ext>
                </a:extLst>
              </p:cNvPr>
              <p:cNvCxnSpPr/>
              <p:nvPr/>
            </p:nvCxnSpPr>
            <p:spPr>
              <a:xfrm>
                <a:off x="1774371" y="2830286"/>
                <a:ext cx="1600200" cy="685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F6B85E67-AB6D-51AB-BA15-F232470C2B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4371" y="3937227"/>
                <a:ext cx="1600200" cy="71845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1EBA165E-95DF-4B65-62BC-790A8F1C5B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4371" y="2830286"/>
                <a:ext cx="0" cy="182539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CDFC132-E099-9AE2-3149-738AF0CD47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74571" y="3516086"/>
                <a:ext cx="0" cy="42114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9120A1F-A6B3-ECFA-EFF5-C023BA9F062F}"/>
                </a:ext>
              </a:extLst>
            </p:cNvPr>
            <p:cNvGrpSpPr/>
            <p:nvPr/>
          </p:nvGrpSpPr>
          <p:grpSpPr>
            <a:xfrm rot="10800000">
              <a:off x="7295780" y="2786008"/>
              <a:ext cx="1600201" cy="1825398"/>
              <a:chOff x="-1025610" y="2858235"/>
              <a:chExt cx="1600201" cy="1825398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89C1B22-47A0-498B-E108-7D8DCAB69478}"/>
                  </a:ext>
                </a:extLst>
              </p:cNvPr>
              <p:cNvCxnSpPr/>
              <p:nvPr/>
            </p:nvCxnSpPr>
            <p:spPr>
              <a:xfrm>
                <a:off x="-1025609" y="2858235"/>
                <a:ext cx="1600200" cy="685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2AE5975-9AEC-9E99-2205-40E5D057C0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1025609" y="3965176"/>
                <a:ext cx="1600200" cy="71845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0CD02DE-A8DC-8970-D486-A428C91217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1025610" y="2858235"/>
                <a:ext cx="0" cy="182539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7209F23F-9AEB-840B-45AF-A59A1CCBA3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4591" y="3544035"/>
                <a:ext cx="0" cy="42114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06939AD-F6EB-7AAA-7343-CBBDD6844202}"/>
                </a:ext>
              </a:extLst>
            </p:cNvPr>
            <p:cNvSpPr/>
            <p:nvPr/>
          </p:nvSpPr>
          <p:spPr>
            <a:xfrm>
              <a:off x="3461657" y="3494147"/>
              <a:ext cx="3747028" cy="43494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D2FCB78-725B-4328-C692-BB585FD2FED1}"/>
              </a:ext>
            </a:extLst>
          </p:cNvPr>
          <p:cNvSpPr txBox="1"/>
          <p:nvPr/>
        </p:nvSpPr>
        <p:spPr>
          <a:xfrm>
            <a:off x="336573" y="2511731"/>
            <a:ext cx="870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3A8B047-A024-B3A8-B57E-E305867B12E1}"/>
              </a:ext>
            </a:extLst>
          </p:cNvPr>
          <p:cNvGrpSpPr/>
          <p:nvPr/>
        </p:nvGrpSpPr>
        <p:grpSpPr>
          <a:xfrm>
            <a:off x="1939788" y="3660723"/>
            <a:ext cx="2959391" cy="991929"/>
            <a:chOff x="7429298" y="1855504"/>
            <a:chExt cx="3915119" cy="1257299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833479A1-729C-5758-3E76-03C7D0ECC9D2}"/>
                </a:ext>
              </a:extLst>
            </p:cNvPr>
            <p:cNvSpPr/>
            <p:nvPr/>
          </p:nvSpPr>
          <p:spPr>
            <a:xfrm>
              <a:off x="8311239" y="1855504"/>
              <a:ext cx="1578429" cy="1257299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GAN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FAFA728-A874-9FAD-E655-BF9277C704D5}"/>
                </a:ext>
              </a:extLst>
            </p:cNvPr>
            <p:cNvSpPr/>
            <p:nvPr/>
          </p:nvSpPr>
          <p:spPr>
            <a:xfrm>
              <a:off x="10612058" y="2333949"/>
              <a:ext cx="732359" cy="313042"/>
            </a:xfrm>
            <a:prstGeom prst="rect">
              <a:avLst/>
            </a:prstGeom>
            <a:gradFill flip="none" rotWithShape="1">
              <a:gsLst>
                <a:gs pos="0">
                  <a:schemeClr val="tx2">
                    <a:lumMod val="75000"/>
                    <a:lumOff val="25000"/>
                    <a:shade val="30000"/>
                    <a:satMod val="115000"/>
                  </a:schemeClr>
                </a:gs>
                <a:gs pos="50000">
                  <a:schemeClr val="tx2">
                    <a:lumMod val="75000"/>
                    <a:lumOff val="25000"/>
                    <a:shade val="67500"/>
                    <a:satMod val="115000"/>
                  </a:schemeClr>
                </a:gs>
                <a:gs pos="100000">
                  <a:schemeClr val="tx2">
                    <a:lumMod val="75000"/>
                    <a:lumOff val="25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B0C8D38-A56D-1C90-F5E8-3D8B6FD7D8A6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 flipV="1">
              <a:off x="7429298" y="2484154"/>
              <a:ext cx="881940" cy="35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820AFF0-DFE9-682C-5751-E35EB813B5FE}"/>
                </a:ext>
              </a:extLst>
            </p:cNvPr>
            <p:cNvCxnSpPr>
              <a:cxnSpLocks/>
              <a:stCxn id="24" idx="3"/>
              <a:endCxn id="27" idx="1"/>
            </p:cNvCxnSpPr>
            <p:nvPr/>
          </p:nvCxnSpPr>
          <p:spPr>
            <a:xfrm>
              <a:off x="9889668" y="2484154"/>
              <a:ext cx="722389" cy="631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FE19C269-9A46-9EC6-F631-1D168CEE49D8}"/>
              </a:ext>
            </a:extLst>
          </p:cNvPr>
          <p:cNvSpPr txBox="1"/>
          <p:nvPr/>
        </p:nvSpPr>
        <p:spPr>
          <a:xfrm>
            <a:off x="6267603" y="1356051"/>
            <a:ext cx="56322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 is trained to generate latent image from latent mask input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inference, random binary mask -&gt; encoder -&gt; latent mask -&gt; GAN -&gt; latent image -&gt; decoder -&gt; synthetic image</a:t>
            </a:r>
          </a:p>
        </p:txBody>
      </p:sp>
      <p:pic>
        <p:nvPicPr>
          <p:cNvPr id="2050" name="Picture 2" descr="Freeze Logo Images – Browse 83,061 Stock Photos, Vectors, and Video | Adobe  Stock">
            <a:extLst>
              <a:ext uri="{FF2B5EF4-FFF2-40B4-BE49-F238E27FC236}">
                <a16:creationId xmlns:a16="http://schemas.microsoft.com/office/drawing/2014/main" id="{49E8DC20-94B1-E52D-E945-D847002C3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41" y="1690688"/>
            <a:ext cx="399484" cy="399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4DE4AE-0A39-7EE2-56A5-F8DE5059B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11</a:t>
            </a:fld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672BF4-EC80-9A76-6199-1C695C514130}"/>
              </a:ext>
            </a:extLst>
          </p:cNvPr>
          <p:cNvSpPr/>
          <p:nvPr/>
        </p:nvSpPr>
        <p:spPr>
          <a:xfrm>
            <a:off x="1207429" y="4000167"/>
            <a:ext cx="732359" cy="31304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B66DCE9-72E2-475E-641F-933A5117C81D}"/>
              </a:ext>
            </a:extLst>
          </p:cNvPr>
          <p:cNvCxnSpPr>
            <a:cxnSpLocks/>
            <a:stCxn id="27" idx="0"/>
            <a:endCxn id="20" idx="3"/>
          </p:cNvCxnSpPr>
          <p:nvPr/>
        </p:nvCxnSpPr>
        <p:spPr>
          <a:xfrm flipH="1" flipV="1">
            <a:off x="4543457" y="2712413"/>
            <a:ext cx="78932" cy="1325773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1EECC4A-7D7F-FA73-1AF2-7E69D62277DC}"/>
              </a:ext>
            </a:extLst>
          </p:cNvPr>
          <p:cNvSpPr txBox="1"/>
          <p:nvPr/>
        </p:nvSpPr>
        <p:spPr>
          <a:xfrm>
            <a:off x="977117" y="4407875"/>
            <a:ext cx="1101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Mask</a:t>
            </a:r>
          </a:p>
        </p:txBody>
      </p:sp>
    </p:spTree>
    <p:extLst>
      <p:ext uri="{BB962C8B-B14F-4D97-AF65-F5344CB8AC3E}">
        <p14:creationId xmlns:p14="http://schemas.microsoft.com/office/powerpoint/2010/main" val="3186246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FAF99-FCAB-F524-B345-506626C82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C888830-708B-47D6-0071-07DB85120CD1}"/>
              </a:ext>
            </a:extLst>
          </p:cNvPr>
          <p:cNvGrpSpPr/>
          <p:nvPr/>
        </p:nvGrpSpPr>
        <p:grpSpPr>
          <a:xfrm>
            <a:off x="1728944" y="2533190"/>
            <a:ext cx="2285215" cy="991929"/>
            <a:chOff x="7588850" y="1978438"/>
            <a:chExt cx="3023208" cy="1257299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2FFB220C-2183-1765-1EB2-EA35322FC82D}"/>
                </a:ext>
              </a:extLst>
            </p:cNvPr>
            <p:cNvSpPr/>
            <p:nvPr/>
          </p:nvSpPr>
          <p:spPr>
            <a:xfrm>
              <a:off x="8311240" y="1978438"/>
              <a:ext cx="1578428" cy="1257299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GAN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8E241C7-CFB9-CF1C-FAD1-9BAA66FF9E49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 flipV="1">
              <a:off x="7588850" y="2607088"/>
              <a:ext cx="722390" cy="631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C2BB79D-57D5-9D5E-2380-D3061B57E402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9889668" y="2607088"/>
              <a:ext cx="722390" cy="631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E1A34B0-6F8C-DE73-0442-62461A583140}"/>
              </a:ext>
            </a:extLst>
          </p:cNvPr>
          <p:cNvSpPr/>
          <p:nvPr/>
        </p:nvSpPr>
        <p:spPr>
          <a:xfrm>
            <a:off x="947057" y="2743200"/>
            <a:ext cx="781887" cy="5987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24ED6D-2878-2C1F-6460-32287BC7A152}"/>
              </a:ext>
            </a:extLst>
          </p:cNvPr>
          <p:cNvSpPr/>
          <p:nvPr/>
        </p:nvSpPr>
        <p:spPr>
          <a:xfrm>
            <a:off x="4014159" y="2743200"/>
            <a:ext cx="781887" cy="59871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94A70E-7801-AE7C-4B1F-4740E66A21AB}"/>
              </a:ext>
            </a:extLst>
          </p:cNvPr>
          <p:cNvSpPr txBox="1"/>
          <p:nvPr/>
        </p:nvSpPr>
        <p:spPr>
          <a:xfrm>
            <a:off x="6096000" y="2567489"/>
            <a:ext cx="533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GAN model, the network directly learns how to generate the original image from the binary mask input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B6FB893-2A62-F744-4AA6-04D062D85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465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E066B-2D22-B424-1BA4-25890D59F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D345C-1CA4-6F5E-C23E-ED0E69162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34848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Segmentation Decathlon – Task 01 (Brain Tumor) derived from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(Brain Tumor Segmentation) Challenge data.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 484 3D MRI data, each with 4 MRI modalities (chose FLAIR)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the 2D axial slices and corresponding binary tumor masks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slices: 30103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D68BE9-2CD3-534E-AA6A-5621C7972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9EF494-011A-F35B-588C-9855E0BB4027}"/>
              </a:ext>
            </a:extLst>
          </p:cNvPr>
          <p:cNvSpPr txBox="1"/>
          <p:nvPr/>
        </p:nvSpPr>
        <p:spPr>
          <a:xfrm>
            <a:off x="838199" y="5860473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medicaldecathlon.com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862564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0756C5-82B6-49E5-E0CD-7F03E8C41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7FFF1A-8837-59C1-B687-5183D5E3E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058194"/>
            <a:ext cx="7772400" cy="38862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99DC60C-BDFD-C72D-0EB2-FC46FC7DB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Images and Masks</a:t>
            </a:r>
          </a:p>
        </p:txBody>
      </p:sp>
    </p:spTree>
    <p:extLst>
      <p:ext uri="{BB962C8B-B14F-4D97-AF65-F5344CB8AC3E}">
        <p14:creationId xmlns:p14="http://schemas.microsoft.com/office/powerpoint/2010/main" val="1856033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5CEF0-E589-B7A3-893F-3883E893C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C968A-390C-E89C-DE21-ABD70414A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312E1-D611-B619-E6F8-EA7ECE618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idea: If the reconstructed image is good enough, a segmentation model should be able to segment the tumor close to the given mask.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U-net segmentation model was pre-trained on the dataset, and then used to segment the reconstructed image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HD95 and Normalized Dice score are measured.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039A3-9FBB-3956-9C86-7AD39D642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199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801B6-8686-2C5B-B362-7DDDA28B8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9207E-8456-6380-CEE0-A12E09891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Result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9CF12A-7230-353C-4739-CD366F358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056" y="1686054"/>
            <a:ext cx="1435473" cy="15045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F51533-E30F-FA26-8AC9-AC65CA4C91F0}"/>
              </a:ext>
            </a:extLst>
          </p:cNvPr>
          <p:cNvSpPr txBox="1"/>
          <p:nvPr/>
        </p:nvSpPr>
        <p:spPr>
          <a:xfrm>
            <a:off x="285605" y="2209805"/>
            <a:ext cx="968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6144EB-0529-F760-99FF-47BB27F95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056" y="1690688"/>
            <a:ext cx="1480164" cy="14998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40786A-7901-3DB0-D220-31CBBCBF8D86}"/>
              </a:ext>
            </a:extLst>
          </p:cNvPr>
          <p:cNvSpPr txBox="1"/>
          <p:nvPr/>
        </p:nvSpPr>
        <p:spPr>
          <a:xfrm>
            <a:off x="285605" y="4687716"/>
            <a:ext cx="968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GAN+VAE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D17510-949D-BED3-BA8B-82CA67629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9057" y="4371712"/>
            <a:ext cx="1435472" cy="14308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3AFD40-3369-D69B-25C3-97F416458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5056" y="4371713"/>
            <a:ext cx="1480164" cy="14308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BA60873-AB61-0B0D-7F27-AE06C79B577E}"/>
              </a:ext>
            </a:extLst>
          </p:cNvPr>
          <p:cNvSpPr txBox="1"/>
          <p:nvPr/>
        </p:nvSpPr>
        <p:spPr>
          <a:xfrm>
            <a:off x="6096000" y="1988285"/>
            <a:ext cx="1480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 + Diffusion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0825E3-8304-E3ED-D095-D043F2037F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667" y="1681419"/>
            <a:ext cx="1490095" cy="14998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573125C-2AF4-4309-F93D-9384AED8AF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7624" y="1681419"/>
            <a:ext cx="1519830" cy="1499898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5C007C5-F364-672C-1269-EE3FFC080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827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35D80-92D7-CBB4-1093-6F3ED791E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0F37C-6129-2DE1-91EE-DB233292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Result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D67132-A5A9-8F69-FA13-4FA295BF9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912176"/>
              </p:ext>
            </p:extLst>
          </p:nvPr>
        </p:nvGraphicFramePr>
        <p:xfrm>
          <a:off x="2585155" y="1690688"/>
          <a:ext cx="702168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563">
                  <a:extLst>
                    <a:ext uri="{9D8B030D-6E8A-4147-A177-3AD203B41FA5}">
                      <a16:colId xmlns:a16="http://schemas.microsoft.com/office/drawing/2014/main" val="1205000915"/>
                    </a:ext>
                  </a:extLst>
                </a:gridCol>
                <a:gridCol w="2340563">
                  <a:extLst>
                    <a:ext uri="{9D8B030D-6E8A-4147-A177-3AD203B41FA5}">
                      <a16:colId xmlns:a16="http://schemas.microsoft.com/office/drawing/2014/main" val="1066847191"/>
                    </a:ext>
                  </a:extLst>
                </a:gridCol>
                <a:gridCol w="2340563">
                  <a:extLst>
                    <a:ext uri="{9D8B030D-6E8A-4147-A177-3AD203B41FA5}">
                      <a16:colId xmlns:a16="http://schemas.microsoft.com/office/drawing/2014/main" val="1881776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HD95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046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VAE+Diffusion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143.17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146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VAE+GAN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72.14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5.52%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756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7.60%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32961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ABFC8F-4FC1-4996-01B9-8D60128C269C}"/>
              </a:ext>
            </a:extLst>
          </p:cNvPr>
          <p:cNvSpPr txBox="1"/>
          <p:nvPr/>
        </p:nvSpPr>
        <p:spPr>
          <a:xfrm>
            <a:off x="780343" y="3785244"/>
            <a:ext cx="106313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GAN outperforms the other two methods on HD95 and NSD — best tumor alignment with conditioning mask.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VAE + Diffusion performed worst —poor convergence?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75A28-90E8-896D-397B-F54916EC9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17</a:t>
            </a:fld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563D0F-5568-7CF9-9B88-8720931CE81D}"/>
              </a:ext>
            </a:extLst>
          </p:cNvPr>
          <p:cNvCxnSpPr>
            <a:cxnSpLocks/>
          </p:cNvCxnSpPr>
          <p:nvPr/>
        </p:nvCxnSpPr>
        <p:spPr>
          <a:xfrm>
            <a:off x="6727370" y="1782129"/>
            <a:ext cx="0" cy="3209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1D2B7C2-BCEE-F260-9D91-8D72016097CB}"/>
              </a:ext>
            </a:extLst>
          </p:cNvPr>
          <p:cNvCxnSpPr>
            <a:cxnSpLocks/>
          </p:cNvCxnSpPr>
          <p:nvPr/>
        </p:nvCxnSpPr>
        <p:spPr>
          <a:xfrm flipV="1">
            <a:off x="9035141" y="1756003"/>
            <a:ext cx="0" cy="340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680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5E1B9-A44D-04A1-D11F-A7523749F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85305"/>
            <a:ext cx="10515600" cy="8556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77FDE-8232-CFFC-613B-2E467F9AC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601-41C0-C643-8670-42B83ECA0464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035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2412</TotalTime>
  <Words>842</Words>
  <Application>Microsoft Macintosh PowerPoint</Application>
  <PresentationFormat>Widescreen</PresentationFormat>
  <Paragraphs>159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Objective</vt:lpstr>
      <vt:lpstr>Objective</vt:lpstr>
      <vt:lpstr>Objective</vt:lpstr>
      <vt:lpstr>Objective</vt:lpstr>
      <vt:lpstr>Proposed Pipeline</vt:lpstr>
      <vt:lpstr>Selected Methods to Analyze</vt:lpstr>
      <vt:lpstr>VAE+Diffusion</vt:lpstr>
      <vt:lpstr>VAE+Diffusion</vt:lpstr>
      <vt:lpstr>VAE + GAN</vt:lpstr>
      <vt:lpstr>VAE + GAN</vt:lpstr>
      <vt:lpstr>GAN</vt:lpstr>
      <vt:lpstr>Experimental Setup</vt:lpstr>
      <vt:lpstr>Sample Images and Masks</vt:lpstr>
      <vt:lpstr>Evaluation Metric</vt:lpstr>
      <vt:lpstr>Qualitative Result</vt:lpstr>
      <vt:lpstr>Quantitative Result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Talha Ibn Mahmud</dc:creator>
  <cp:lastModifiedBy>Talha Ibn Mahmud</cp:lastModifiedBy>
  <cp:revision>48</cp:revision>
  <dcterms:created xsi:type="dcterms:W3CDTF">2025-12-02T03:22:07Z</dcterms:created>
  <dcterms:modified xsi:type="dcterms:W3CDTF">2025-12-12T23:38:32Z</dcterms:modified>
</cp:coreProperties>
</file>